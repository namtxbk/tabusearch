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sjjoQHCo6JsN97rR0wybOOmXe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4b0ffcf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c64b0ffcfb_0_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d5a59fd3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bd5a59fd31_0_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d5a59fd31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bd5a59fd31_0_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d5a59fd31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bd5a59fd31_0_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d5a59fd31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bd5a59fd31_0_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d5a59fd31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bd5a59fd31_0_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7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9"/>
          <p:cNvSpPr txBox="1"/>
          <p:nvPr>
            <p:ph idx="2" type="body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9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F3864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1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1"/>
          <p:cNvSpPr txBox="1"/>
          <p:nvPr>
            <p:ph idx="1" type="body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2"/>
          <p:cNvSpPr txBox="1"/>
          <p:nvPr>
            <p:ph idx="2" type="body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mparison">
  <p:cSld name="3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idx="10" type="dt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23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413012" y="1635656"/>
            <a:ext cx="7110418" cy="84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Lato"/>
              <a:buNone/>
            </a:pPr>
            <a:r>
              <a:rPr b="0" i="0" lang="en-US" sz="39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Giải phương trình Laplace bằng phương pháp RED-BLACK SOR</a:t>
            </a:r>
            <a:endParaRPr b="1" i="0" sz="39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413012" y="3842610"/>
            <a:ext cx="7342482" cy="84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Nhóm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Nguyễn Hữu Việt - 20251079M</a:t>
            </a:r>
            <a:endParaRPr b="0" i="0" sz="15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Mai Tiến Thành - 20251176M</a:t>
            </a:r>
            <a:br>
              <a:rPr b="0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Vũ Việt Anh - 20251047M</a:t>
            </a:r>
            <a:br>
              <a:rPr b="0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Nguyễn Tùng Dương - 20251175M</a:t>
            </a:r>
            <a:endParaRPr b="0" i="0" sz="15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</a:pPr>
            <a:r>
              <a:t/>
            </a:r>
            <a:endParaRPr b="0" i="0" sz="15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</a:pPr>
            <a:r>
              <a:t/>
            </a:r>
            <a:endParaRPr b="0" i="0" sz="15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Giảng viên hướng dẫn: TS. Vũ Văn Thiệu</a:t>
            </a:r>
            <a:endParaRPr b="0" i="0" sz="15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1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t/>
            </a:r>
            <a:endParaRPr b="1" i="0" sz="2800" u="none" cap="none" strike="noStrik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4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Bài toán</a:t>
            </a:r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235077" y="961586"/>
            <a:ext cx="8247900" cy="4934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10" r="0" t="-13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Ảnh có chứa Phông chữ, thư pháp, thuật in máy, văn bản&#10;&#10;Nội dung do AI tạo ra có thể không chính xác." id="73" name="Google Shape;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0916" y="1764567"/>
            <a:ext cx="2100221" cy="56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5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Rời rạc hóa</a:t>
            </a: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235077" y="935761"/>
            <a:ext cx="4671901" cy="493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Chia miền tính toán thành lưới x*y, mỗi điểm sẽ phụ thuộc vào 4 láng giềng.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Công thức Laplace rời rạc: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 sz="2500"/>
          </a:p>
        </p:txBody>
      </p:sp>
      <p:pic>
        <p:nvPicPr>
          <p:cNvPr descr="Basics of the finite difference method for solving the 2D Laplace equation  | GlobalSpec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147" y="1602904"/>
            <a:ext cx="3739081" cy="339461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6269853" y="3101034"/>
            <a:ext cx="597529" cy="19917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 rot="-5400000">
            <a:off x="6668206" y="3499386"/>
            <a:ext cx="597529" cy="19917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 rot="10800000">
            <a:off x="7054108" y="3101034"/>
            <a:ext cx="597529" cy="19917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 rot="5400000">
            <a:off x="6668206" y="2702682"/>
            <a:ext cx="597529" cy="19917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Ảnh có chứa Phông chữ, hàng, văn bản, thuật in máy&#10;&#10;Nội dung do AI tạo ra có thể không chính xác." id="86" name="Google Shape;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200" y="2892278"/>
            <a:ext cx="4879818" cy="875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64b0ffcfb_0_1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g3c64b0ffcfb_0_1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Thuật toán JACOBI</a:t>
            </a:r>
            <a:endParaRPr/>
          </a:p>
        </p:txBody>
      </p:sp>
      <p:sp>
        <p:nvSpPr>
          <p:cNvPr id="93" name="Google Shape;93;g3c64b0ffcfb_0_1"/>
          <p:cNvSpPr/>
          <p:nvPr/>
        </p:nvSpPr>
        <p:spPr>
          <a:xfrm>
            <a:off x="6269853" y="3101034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c64b0ffcfb_0_1"/>
          <p:cNvSpPr/>
          <p:nvPr/>
        </p:nvSpPr>
        <p:spPr>
          <a:xfrm rot="-5400000">
            <a:off x="6668183" y="3499339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c64b0ffcfb_0_1"/>
          <p:cNvSpPr/>
          <p:nvPr/>
        </p:nvSpPr>
        <p:spPr>
          <a:xfrm rot="10800000">
            <a:off x="7054037" y="3101010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c64b0ffcfb_0_1"/>
          <p:cNvSpPr/>
          <p:nvPr/>
        </p:nvSpPr>
        <p:spPr>
          <a:xfrm rot="5400000">
            <a:off x="6668159" y="2702706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3c64b0ffcfb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107" y="1018308"/>
            <a:ext cx="3821703" cy="334228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c64b0ffcfb_0_1"/>
          <p:cNvSpPr txBox="1"/>
          <p:nvPr>
            <p:ph idx="1" type="body"/>
          </p:nvPr>
        </p:nvSpPr>
        <p:spPr>
          <a:xfrm>
            <a:off x="235077" y="935762"/>
            <a:ext cx="4671901" cy="2732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Công thức Laplace rời rạc: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Tiến hành duyệt qua từng phần tử, tính toán giá trị tại u(i,j) bằng 4 giá trị lân cận của ma trận với các giá trị ban đầu.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lang="en-US" sz="2000"/>
              <a:t>Lặp lại cho đến khi ma trận hội tụ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lang="en-US" sz="2000"/>
              <a:t>Dễ song song hóa nhưng tốc độ hội tụ chậm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 sz="2500"/>
          </a:p>
        </p:txBody>
      </p:sp>
      <p:pic>
        <p:nvPicPr>
          <p:cNvPr descr="Ảnh có chứa Phông chữ, hàng, văn bản, thuật in máy&#10;&#10;Nội dung do AI tạo ra có thể không chính xác." id="99" name="Google Shape;99;g3c64b0ffcfb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118" y="1373713"/>
            <a:ext cx="4879818" cy="875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24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Thuật toán Gauss Seidei</a:t>
            </a:r>
            <a:endParaRPr/>
          </a:p>
        </p:txBody>
      </p:sp>
      <p:sp>
        <p:nvSpPr>
          <p:cNvPr id="106" name="Google Shape;106;p24"/>
          <p:cNvSpPr/>
          <p:nvPr/>
        </p:nvSpPr>
        <p:spPr>
          <a:xfrm>
            <a:off x="6269853" y="3101034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4"/>
          <p:cNvSpPr/>
          <p:nvPr/>
        </p:nvSpPr>
        <p:spPr>
          <a:xfrm rot="-5400000">
            <a:off x="6668183" y="3499339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4"/>
          <p:cNvSpPr/>
          <p:nvPr/>
        </p:nvSpPr>
        <p:spPr>
          <a:xfrm rot="10800000">
            <a:off x="7054037" y="3101010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4"/>
          <p:cNvSpPr/>
          <p:nvPr/>
        </p:nvSpPr>
        <p:spPr>
          <a:xfrm rot="5400000">
            <a:off x="6668159" y="2702706"/>
            <a:ext cx="597600" cy="19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107" y="1018308"/>
            <a:ext cx="3821703" cy="334228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235077" y="935762"/>
            <a:ext cx="4671901" cy="2732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Công thức Laplace rời rạc: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Thay vì tính u(i,j) sử dụng các giá trị cũ, thì phương pháp Gauss Seidei sẽ sử dụng ngay các giá trị vừa tính toán được.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lang="en-US" sz="2000"/>
              <a:t>Lặp lại cho đến khi ma trận hội tụ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Tốc độ hội tụ nhanh hơn, tuy nhiên khó song song hóa do phụ thuộc vào các điểm hàng xóm.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 sz="2500"/>
          </a:p>
        </p:txBody>
      </p:sp>
      <p:pic>
        <p:nvPicPr>
          <p:cNvPr descr="Ảnh có chứa Phông chữ, hàng, văn bản, thuật in máy&#10;&#10;Nội dung do AI tạo ra có thể không chính xác." id="112" name="Google Shape;1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118" y="1373713"/>
            <a:ext cx="4879818" cy="875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6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Thuật toán Red-Black SOR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235077" y="935762"/>
            <a:ext cx="9017565" cy="1961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Sử dụng phương pháp SOR: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Tại mỗi bước lặp, sẽ không chỉ tính giá trị trung bình của hang xóm mà đồng thời điều chỉnh bằng hệ số ω để thuật toán hội tụ nhanh hơn.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Tuy nhiên, mỗi bước lặp sẽ phụ thuộc vào hàng xóm lân cận.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5766" y="2153941"/>
            <a:ext cx="4836185" cy="575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-Black ordering technique and implementation of the SOR algorithm:... |  Download Scientific Diagram"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5964" y="3660856"/>
            <a:ext cx="4533852" cy="17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312187" y="3660856"/>
            <a:ext cx="4078743" cy="493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=&gt; Đánh dấu các ô xen kẽ đỏ đen.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=&gt; Các ô đỏ chỉ sử dụng các giá trị lân cận là các ô đen và ngược lại.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=&gt; Có thể tính toán song song các ô đỏ và đen.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7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Thuật toán Red-Black SOR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235077" y="935762"/>
            <a:ext cx="9017565" cy="1961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Sử dụng phương pháp SOR: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Tại mỗi bước lặp, sẽ không chỉ tính giá trị trung bình của hang xóm mà đồng thời điều chỉnh bằng hệ số ω để thuật toán hội tụ nhanh hơn.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7" y="2032548"/>
            <a:ext cx="7260244" cy="864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-Black ordering technique and implementation of the SOR algorithm:... |  Download Scientific Diagram"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5964" y="3660856"/>
            <a:ext cx="4533852" cy="173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312187" y="3660856"/>
            <a:ext cx="4078743" cy="493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=&gt; Đánh dấu các ô xen kẽ đỏ đen.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=&gt; Các ô đỏ chỉ sử dụng các giá trị lân cận là các ô đen và ngược lại.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=&gt; Có thể tính toán song song các ô đỏ và đen.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Giải thuật tuần tự Red-Black SOR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235077" y="935762"/>
            <a:ext cx="9017565" cy="1961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Bước 1: Khởi tạo lưới x*y.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Gán giá trị biên.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Bước 2: Duyệt qua toàn bộ các điểm </a:t>
            </a:r>
            <a:r>
              <a:rPr b="1" lang="en-US" sz="2000"/>
              <a:t>RED</a:t>
            </a:r>
            <a:r>
              <a:rPr lang="en-US" sz="2000"/>
              <a:t> (có giá trị i+j chẵn)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Tính giá trị điểm RED bằng công thức SOR.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Bước 3: Duyệt qua toàn bộ các điểm </a:t>
            </a:r>
            <a:r>
              <a:rPr b="1" lang="en-US" sz="2000"/>
              <a:t>BLACK</a:t>
            </a:r>
            <a:r>
              <a:rPr lang="en-US" sz="2000"/>
              <a:t> (có giá trị i+j lẻ)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Tính giá trị điểm BLACK bằng công thức SOR.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Bước 4: Kiểm tra hội tụ bằng cách tính sai số giữa 2 lần lặp.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Nếu sai số bé hơn ε thì ngừng,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Bước 5: Nếu chưa hội tụ thì quay lại Bước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9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Thuật toán Red-Black SOR</a:t>
            </a:r>
            <a:endParaRPr/>
          </a:p>
        </p:txBody>
      </p:sp>
      <p:pic>
        <p:nvPicPr>
          <p:cNvPr descr="Red-Black ordering technique and implementation of the SOR algorithm:... |  Download Scientific Diagram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86" y="1751694"/>
            <a:ext cx="8746688" cy="3354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0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Giải thuật song song Red-Black SOR</a:t>
            </a:r>
            <a:endParaRPr/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235077" y="935762"/>
            <a:ext cx="9017565" cy="1961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Bước 1: </a:t>
            </a:r>
            <a:r>
              <a:rPr lang="en-US" sz="2000"/>
              <a:t>Khởi tạo lưới x*y.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Gán giá trị biên.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Bước 2:  </a:t>
            </a:r>
            <a:r>
              <a:rPr lang="en-US" sz="2000"/>
              <a:t>Trao đổi thông tin giữa các tiến trình để cập nhật các điểm </a:t>
            </a:r>
            <a:r>
              <a:rPr b="1" lang="en-US" sz="2000"/>
              <a:t>BLACK</a:t>
            </a:r>
            <a:r>
              <a:rPr lang="en-US" sz="2000"/>
              <a:t> mới.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Tính giá trị các ô </a:t>
            </a:r>
            <a:r>
              <a:rPr b="1" lang="en-US" sz="2000"/>
              <a:t>RED</a:t>
            </a:r>
            <a:r>
              <a:rPr lang="en-US" sz="2000"/>
              <a:t> (có giá trị i+j chẵn) một cách song song bằng công 	thức SOR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Bước 3: </a:t>
            </a:r>
            <a:r>
              <a:rPr lang="en-US" sz="2000"/>
              <a:t>Trao đổi thông tin giữa các tiến trình để cập nhật các điểm </a:t>
            </a:r>
            <a:r>
              <a:rPr b="1" lang="en-US" sz="2000"/>
              <a:t>BLACK</a:t>
            </a:r>
            <a:r>
              <a:rPr lang="en-US" sz="2000"/>
              <a:t> mới.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 Tính giá trị các ô </a:t>
            </a:r>
            <a:r>
              <a:rPr b="1" lang="en-US" sz="2000"/>
              <a:t>BLACK</a:t>
            </a:r>
            <a:r>
              <a:rPr lang="en-US" sz="2000"/>
              <a:t> (có giá trị i+j chẵn) một cách song song bằng 	công thức SOR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Bước 4: </a:t>
            </a:r>
            <a:r>
              <a:rPr lang="en-US" sz="2000"/>
              <a:t>Tính sai số cục bộ tại các tiến trình.</a:t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</a:t>
            </a:r>
            <a:r>
              <a:rPr lang="en-US" sz="2000"/>
              <a:t>Sử dụng MPI_AllReduce để tính sai số toàn cục.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Nếu sai số bé hơn ε thì ngừng,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Bước 5: </a:t>
            </a:r>
            <a:r>
              <a:rPr lang="en-US" sz="2000"/>
              <a:t>Nếu chưa hội tụ thì quay lại Bước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1"/>
          <p:cNvSpPr txBox="1"/>
          <p:nvPr>
            <p:ph type="title"/>
          </p:nvPr>
        </p:nvSpPr>
        <p:spPr>
          <a:xfrm>
            <a:off x="235077" y="78613"/>
            <a:ext cx="8673846" cy="451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Kết quả</a:t>
            </a:r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235075" y="875750"/>
            <a:ext cx="549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Code benchmark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075" y="1552618"/>
            <a:ext cx="8673850" cy="3343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d5a59fd31_0_2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g3bd5a59fd31_0_2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Kết quả</a:t>
            </a:r>
            <a:endParaRPr/>
          </a:p>
        </p:txBody>
      </p:sp>
      <p:sp>
        <p:nvSpPr>
          <p:cNvPr id="168" name="Google Shape;168;g3bd5a59fd31_0_2"/>
          <p:cNvSpPr txBox="1"/>
          <p:nvPr/>
        </p:nvSpPr>
        <p:spPr>
          <a:xfrm>
            <a:off x="235075" y="875750"/>
            <a:ext cx="5492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n=50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MPI: Iters=132, Final delta: 9.96e-07, Time: 0.0010sec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Sequential: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Iters=132, Final delta: 9.96e-07, Time: 0.0016sec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9" name="Google Shape;169;g3bd5a59fd31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725" y="2599550"/>
            <a:ext cx="4398825" cy="23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bd5a59fd31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5754" y="2599550"/>
            <a:ext cx="4000522" cy="237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5a59fd31_0_39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g3bd5a59fd31_0_39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Kết quả</a:t>
            </a:r>
            <a:endParaRPr/>
          </a:p>
        </p:txBody>
      </p:sp>
      <p:sp>
        <p:nvSpPr>
          <p:cNvPr id="177" name="Google Shape;177;g3bd5a59fd31_0_39"/>
          <p:cNvSpPr txBox="1"/>
          <p:nvPr/>
        </p:nvSpPr>
        <p:spPr>
          <a:xfrm>
            <a:off x="235075" y="875750"/>
            <a:ext cx="5492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n=100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MPI: Iters=271, Final delta: 8.89e-07,  Time: 0.0057sec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Sequential: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Iters=271, Final delta: 8.89e-07, Time: 0.0070sec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8" name="Google Shape;178;g3bd5a59fd31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51950"/>
            <a:ext cx="4570954" cy="2357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bd5a59fd31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5754" y="2751950"/>
            <a:ext cx="4115846" cy="2317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d5a59fd31_0_47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g3bd5a59fd31_0_47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Kết quả</a:t>
            </a:r>
            <a:endParaRPr/>
          </a:p>
        </p:txBody>
      </p:sp>
      <p:sp>
        <p:nvSpPr>
          <p:cNvPr id="186" name="Google Shape;186;g3bd5a59fd31_0_47"/>
          <p:cNvSpPr txBox="1"/>
          <p:nvPr/>
        </p:nvSpPr>
        <p:spPr>
          <a:xfrm>
            <a:off x="235075" y="875750"/>
            <a:ext cx="5492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n=200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MPI: Iters=539, Final delta: 9.81e-07, Time: 0.0101sec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Sequential: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Iters=539, Final delta: 9.81e-07, Time: 0.0322sec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7" name="Google Shape;187;g3bd5a59fd31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51950"/>
            <a:ext cx="4570954" cy="262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bd5a59fd31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5754" y="2751950"/>
            <a:ext cx="4115846" cy="2978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d5a59fd31_0_55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g3bd5a59fd31_0_55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Kết quả</a:t>
            </a:r>
            <a:endParaRPr/>
          </a:p>
        </p:txBody>
      </p:sp>
      <p:sp>
        <p:nvSpPr>
          <p:cNvPr id="195" name="Google Shape;195;g3bd5a59fd31_0_55"/>
          <p:cNvSpPr txBox="1"/>
          <p:nvPr/>
        </p:nvSpPr>
        <p:spPr>
          <a:xfrm>
            <a:off x="235075" y="875750"/>
            <a:ext cx="5492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n=400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MPI: Iters=1068, Final delta: 1e-06, Time: 0.1058sec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Sequential: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Iters=1068, Final delta: 1e-06, Time: 0.2167sec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6" name="Google Shape;196;g3bd5a59fd31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51950"/>
            <a:ext cx="4570953" cy="3857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bd5a59fd31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5753" y="2751950"/>
            <a:ext cx="4115847" cy="2427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d5a59fd31_0_63"/>
          <p:cNvSpPr txBox="1"/>
          <p:nvPr>
            <p:ph idx="12" type="sldNum"/>
          </p:nvPr>
        </p:nvSpPr>
        <p:spPr>
          <a:xfrm>
            <a:off x="6867383" y="65721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g3bd5a59fd31_0_63"/>
          <p:cNvSpPr txBox="1"/>
          <p:nvPr>
            <p:ph type="title"/>
          </p:nvPr>
        </p:nvSpPr>
        <p:spPr>
          <a:xfrm>
            <a:off x="235077" y="78613"/>
            <a:ext cx="8673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/>
              <a:t>Kết quả</a:t>
            </a:r>
            <a:endParaRPr/>
          </a:p>
        </p:txBody>
      </p:sp>
      <p:sp>
        <p:nvSpPr>
          <p:cNvPr id="204" name="Google Shape;204;g3bd5a59fd31_0_63"/>
          <p:cNvSpPr txBox="1"/>
          <p:nvPr/>
        </p:nvSpPr>
        <p:spPr>
          <a:xfrm>
            <a:off x="235075" y="875750"/>
            <a:ext cx="5492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n=800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MPI: Iters=2118, Final delta: 9.52e-07, Time: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0.9439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-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Sequential: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IIters=2118, Final delta: 9.52e-07, Time: 1.6839sec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g3bd5a59fd31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50" y="2599550"/>
            <a:ext cx="3521833" cy="395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bd5a59fd31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4083" y="2751950"/>
            <a:ext cx="4657516" cy="2464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/>
          <p:nvPr>
            <p:ph idx="12" type="sldNum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4181094" y="3021991"/>
            <a:ext cx="4197975" cy="81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2021-05-28T04:32:29Z</dcterms:created>
  <dc:creator>Phong TT &amp; QTTH</dc:creator>
</cp:coreProperties>
</file>